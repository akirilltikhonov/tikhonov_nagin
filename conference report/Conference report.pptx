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73" r:id="rId8"/>
    <p:sldId id="271" r:id="rId9"/>
    <p:sldId id="267" r:id="rId10"/>
    <p:sldId id="274" r:id="rId11"/>
    <p:sldId id="263" r:id="rId12"/>
    <p:sldId id="264" r:id="rId13"/>
    <p:sldId id="27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12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35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09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12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05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08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48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63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06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40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28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A5900-9C53-4C2E-8081-E1C3CB34AC5D}" type="datetimeFigureOut">
              <a:rPr lang="ru-RU" smtClean="0"/>
              <a:t>03.03.2020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A44A8-85BF-4FC7-A88B-A449ED6C9F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63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981637" y="2039489"/>
            <a:ext cx="1003150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ru-RU" sz="3200" b="1" cap="all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ОЦЕНИВАНИе</a:t>
            </a:r>
            <a:r>
              <a:rPr lang="ru-RU" sz="3200" b="1" cap="all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ОРИЕНТАЦИИ КАМЕРЫ По ОБЛАКУ ОСОБЫХ ТОЧЕК при помощи </a:t>
            </a:r>
            <a:r>
              <a:rPr lang="ru-RU" sz="3200" b="1" cap="all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ГНСС-ПРИЕМНИКА</a:t>
            </a:r>
            <a:endParaRPr lang="ru-RU" sz="3200" b="1" cap="al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7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Комплексирование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9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SLAM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4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ru-RU" dirty="0" smtClean="0"/>
              <a:t>Зачем это нужно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95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4130"/>
            <a:ext cx="10515600" cy="1290918"/>
          </a:xfrm>
        </p:spPr>
        <p:txBody>
          <a:bodyPr>
            <a:normAutofit/>
          </a:bodyPr>
          <a:lstStyle/>
          <a:p>
            <a:r>
              <a:rPr lang="ru-RU" dirty="0" smtClean="0"/>
              <a:t>Цель работы - создать модель в </a:t>
            </a:r>
            <a:r>
              <a:rPr lang="en-US" dirty="0" smtClean="0"/>
              <a:t>MATLAB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5047"/>
                <a:ext cx="10515600" cy="47919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Дано</a:t>
                </a:r>
                <a:r>
                  <a:rPr lang="en-US" dirty="0" smtClean="0"/>
                  <a:t>:</a:t>
                </a:r>
                <a:endParaRPr lang="ru-RU" dirty="0" smtClean="0"/>
              </a:p>
              <a:p>
                <a:pPr marL="514350" indent="-514350">
                  <a:buAutoNum type="arabicParenR"/>
                </a:pPr>
                <a:r>
                  <a:rPr lang="ru-RU" dirty="0" smtClean="0"/>
                  <a:t>Координаты </a:t>
                </a:r>
                <a:r>
                  <a:rPr lang="en-US" dirty="0" smtClean="0"/>
                  <a:t>N </a:t>
                </a:r>
                <a:r>
                  <a:rPr lang="ru-RU" dirty="0" smtClean="0"/>
                  <a:t>особых </a:t>
                </a:r>
                <a:r>
                  <a:rPr lang="ru-RU" dirty="0" smtClean="0"/>
                  <a:t>точек на двумерном </a:t>
                </a:r>
                <a:r>
                  <a:rPr lang="ru-RU" dirty="0" smtClean="0"/>
                  <a:t>изображении</a:t>
                </a:r>
                <a:r>
                  <a:rPr lang="en-US" dirty="0" smtClean="0"/>
                  <a:t>  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ru-RU" dirty="0" smtClean="0"/>
              </a:p>
              <a:p>
                <a:pPr marL="514350" indent="-514350">
                  <a:buAutoNum type="arabicParenR"/>
                </a:pPr>
                <a:r>
                  <a:rPr lang="ru-RU" dirty="0" smtClean="0"/>
                  <a:t>Координаты </a:t>
                </a:r>
                <a:r>
                  <a:rPr lang="en-US" dirty="0" smtClean="0"/>
                  <a:t>N </a:t>
                </a:r>
                <a:r>
                  <a:rPr lang="ru-RU" dirty="0" smtClean="0"/>
                  <a:t>особых </a:t>
                </a:r>
                <a:r>
                  <a:rPr lang="ru-RU" dirty="0" smtClean="0"/>
                  <a:t>точек в трехмерном </a:t>
                </a:r>
                <a:r>
                  <a:rPr lang="ru-RU" dirty="0" smtClean="0"/>
                  <a:t>пространстве</a:t>
                </a:r>
                <a:r>
                  <a:rPr lang="en-US" dirty="0" smtClean="0"/>
                  <a:t> </a:t>
                </a:r>
                <a:endParaRPr lang="ru-RU" dirty="0" smtClean="0"/>
              </a:p>
              <a:p>
                <a:pPr marL="514350" indent="-514350">
                  <a:buAutoNum type="arabicParenR"/>
                </a:pPr>
                <a:r>
                  <a:rPr lang="ru-RU" dirty="0" smtClean="0"/>
                  <a:t>Координаты камеры в трехмерном пространстве</a:t>
                </a:r>
                <a:r>
                  <a:rPr lang="en-US" dirty="0" smtClean="0"/>
                  <a:t> </a:t>
                </a:r>
                <a:r>
                  <a:rPr lang="en-US" dirty="0" smtClean="0"/>
                  <a:t> </a:t>
                </a:r>
                <a:endParaRPr lang="ru-RU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ru-RU" dirty="0" smtClean="0"/>
                  <a:t>Погрешности определения координат (СКО)</a:t>
                </a:r>
                <a:endParaRPr lang="ru-RU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ru-RU" dirty="0" smtClean="0"/>
                  <a:t>Камера </a:t>
                </a:r>
                <a:r>
                  <a:rPr lang="ru-RU" dirty="0"/>
                  <a:t>движется и вращается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 smtClean="0"/>
                  <a:t>Задача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ru-RU" dirty="0" smtClean="0"/>
                  <a:t>1) Оценить ориентацию камеры в трехмерном пространстве</a:t>
                </a:r>
                <a:endParaRPr lang="ru-RU" dirty="0"/>
              </a:p>
            </p:txBody>
          </p:sp>
        </mc:Choice>
        <mc:Fallback>
          <p:sp>
            <p:nvSpPr>
              <p:cNvPr id="4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5047"/>
                <a:ext cx="10515600" cy="4791916"/>
              </a:xfrm>
              <a:blipFill>
                <a:blip r:embed="rId2"/>
                <a:stretch>
                  <a:fillRect l="-1217" t="-2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8893326" y="2907708"/>
                <a:ext cx="967509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b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ru-RU" sz="2400" b="0" i="1">
                              <a:latin typeface="Cambria Math" panose="02040503050406030204" pitchFamily="18" charset="0"/>
                            </a:rPr>
                            <m:t>𝐶𝐴𝑀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326" y="2907708"/>
                <a:ext cx="967509" cy="462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10232563" y="2446043"/>
                <a:ext cx="654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63" y="2446043"/>
                <a:ext cx="65473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359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58152"/>
          </a:xfrm>
        </p:spPr>
        <p:txBody>
          <a:bodyPr/>
          <a:lstStyle/>
          <a:p>
            <a:r>
              <a:rPr lang="ru-RU" dirty="0" smtClean="0"/>
              <a:t>Синтез расширенного фильтра </a:t>
            </a:r>
            <a:r>
              <a:rPr lang="ru-RU" dirty="0" err="1" smtClean="0"/>
              <a:t>Калмана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-1345422" y="1457356"/>
                <a:ext cx="5823292" cy="12262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ru-RU" sz="20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ru-RU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𝒒</m:t>
                      </m:r>
                      <m:r>
                        <a:rPr lang="ru-RU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2000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45422" y="1457356"/>
                <a:ext cx="5823292" cy="122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838200" y="2705574"/>
                <a:ext cx="2051139" cy="2428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ru-RU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b="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20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0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r>
                                <a:rPr lang="ru-RU" sz="2000" b="0" i="0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ru-RU" sz="20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ru-RU" sz="2000" b="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ru-RU" sz="2000" b="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ru-RU" sz="2000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ru-RU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b>
                          <m:r>
                            <a:rPr lang="ru-RU" sz="20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05574"/>
                <a:ext cx="2051139" cy="2428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42951" y="1822731"/>
            <a:ext cx="2864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/>
              <a:t>Вектор </a:t>
            </a:r>
            <a:r>
              <a:rPr lang="ru-RU" sz="2800" dirty="0" smtClean="0"/>
              <a:t>состояния</a:t>
            </a:r>
            <a:endParaRPr lang="ru-RU" sz="28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442951" y="3532215"/>
            <a:ext cx="3267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Вектор наблюдения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25482" y="519894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Прямоугольник 21"/>
              <p:cNvSpPr/>
              <p:nvPr/>
            </p:nvSpPr>
            <p:spPr>
              <a:xfrm>
                <a:off x="740281" y="5597354"/>
                <a:ext cx="5014706" cy="490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81" y="5597354"/>
                <a:ext cx="5014706" cy="490391"/>
              </a:xfrm>
              <a:prstGeom prst="rect">
                <a:avLst/>
              </a:prstGeom>
              <a:blipFill>
                <a:blip r:embed="rId4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Прямоугольник 22"/>
          <p:cNvSpPr/>
          <p:nvPr/>
        </p:nvSpPr>
        <p:spPr>
          <a:xfrm>
            <a:off x="5674659" y="5527956"/>
            <a:ext cx="70193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Динамика</a:t>
            </a:r>
            <a:r>
              <a:rPr lang="en-US" sz="2800" dirty="0" smtClean="0"/>
              <a:t> </a:t>
            </a:r>
            <a:r>
              <a:rPr lang="ru-RU" sz="2800" dirty="0" smtClean="0"/>
              <a:t>вектора состояния </a:t>
            </a:r>
          </a:p>
          <a:p>
            <a:r>
              <a:rPr lang="ru-RU" sz="2800" dirty="0" smtClean="0"/>
              <a:t>первого порядка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3216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-389461" y="2488826"/>
                <a:ext cx="8740588" cy="4248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sSubSup>
                                              <m:sSubSup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𝑅𝑃𝑌</m:t>
                                                </m:r>
                                                <m:r>
                                                  <m:rPr>
                                                    <m:lit/>
                                                  </m:rP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_</m:t>
                                                </m:r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num>
                                      <m:den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𝑅𝑃𝑌</m:t>
                                            </m:r>
                                            <m:r>
                                              <m:rPr>
                                                <m:lit/>
                                              </m:rP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sSubSup>
                                              <m:sSubSup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𝑅𝑃𝑌</m:t>
                                                </m:r>
                                                <m:r>
                                                  <m:rPr>
                                                    <m:lit/>
                                                  </m:rP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_</m:t>
                                                </m:r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num>
                                      <m:den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𝑅𝑃𝑌</m:t>
                                            </m:r>
                                            <m:r>
                                              <m:rPr>
                                                <m:lit/>
                                              </m:rP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sSubSup>
                                              <m:sSubSup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𝑅𝑃𝑌</m:t>
                                                </m:r>
                                                <m:r>
                                                  <m:rPr>
                                                    <m:lit/>
                                                  </m:rP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_</m:t>
                                                </m:r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bSup>
                                          </m:den>
                                        </m:f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num>
                                      <m:den>
                                        <m:sSubSup>
                                          <m:sSub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𝑅𝑃𝑌</m:t>
                                            </m:r>
                                            <m:r>
                                              <m:rPr>
                                                <m:lit/>
                                              </m:rP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bSup>
                                      </m:den>
                                    </m:f>
                                    <m:sSubSup>
                                      <m:sSub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𝑅𝑃𝑌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ru-RU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𝑔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𝑁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9461" y="2488826"/>
                <a:ext cx="8740588" cy="42481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797859" y="354406"/>
                <a:ext cx="2871876" cy="8306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𝑅𝑃𝑌</m:t>
                              </m:r>
                              <m:r>
                                <m:rPr>
                                  <m:lit/>
                                </m:rPr>
                                <a:rPr lang="ru-RU" sz="2000" i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𝑅𝑃𝑌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𝑅𝑃𝑌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ru-RU" sz="2000" i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59" y="354406"/>
                <a:ext cx="2871876" cy="830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3911906" y="471233"/>
            <a:ext cx="40538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Модель камеры-обскуры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882551" y="1554056"/>
                <a:ext cx="3343223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𝑅𝑃𝑌</m:t>
                              </m:r>
                              <m:r>
                                <m:rPr>
                                  <m:lit/>
                                </m:rPr>
                                <a:rPr lang="ru-RU" sz="200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𝐸𝑁𝑈</m:t>
                              </m:r>
                            </m:sub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𝑅𝑃𝑌</m:t>
                              </m:r>
                            </m:sup>
                          </m:sSubSup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𝐶𝐴𝑀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51" y="1554056"/>
                <a:ext cx="3343223" cy="406650"/>
              </a:xfrm>
              <a:prstGeom prst="rect">
                <a:avLst/>
              </a:prstGeom>
              <a:blipFill>
                <a:blip r:embed="rId4"/>
                <a:stretch>
                  <a:fillRect t="-122388" r="-17518" b="-1865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7608781" y="3970475"/>
            <a:ext cx="3324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Сигнальная функция</a:t>
            </a:r>
            <a:endParaRPr lang="ru-RU" sz="28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206675" y="1559891"/>
            <a:ext cx="829098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Связь между координатами особой точки в ЛСК и </a:t>
            </a:r>
          </a:p>
          <a:p>
            <a:r>
              <a:rPr lang="ru-RU" sz="2800" dirty="0" smtClean="0"/>
              <a:t>ГСК через координаты камеры и матрицу поворота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0013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95636" y="699247"/>
            <a:ext cx="33810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Этап 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экстраполяции: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4120999" y="806327"/>
                <a:ext cx="2201885" cy="4161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ru-RU" b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999" y="806327"/>
                <a:ext cx="2201885" cy="416140"/>
              </a:xfrm>
              <a:prstGeom prst="rect">
                <a:avLst/>
              </a:prstGeom>
              <a:blipFill>
                <a:blip r:embed="rId2"/>
                <a:stretch>
                  <a:fillRect r="-6648" b="-5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Прямоугольник 8"/>
              <p:cNvSpPr/>
              <p:nvPr/>
            </p:nvSpPr>
            <p:spPr>
              <a:xfrm>
                <a:off x="4120999" y="1551842"/>
                <a:ext cx="5794279" cy="8630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ru-RU" b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b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b="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999" y="1551842"/>
                <a:ext cx="5794279" cy="863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/>
          <p:cNvSpPr/>
          <p:nvPr/>
        </p:nvSpPr>
        <p:spPr>
          <a:xfrm>
            <a:off x="395636" y="3632758"/>
            <a:ext cx="2724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Этап 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коррекции:</a:t>
            </a:r>
            <a:endParaRPr lang="ru-R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3919351" y="3421450"/>
                <a:ext cx="7137621" cy="1038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b="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∂</m:t>
                                      </m:r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b="1" i="1">
                                              <a:latin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e>
                                        <m:sub>
                                          <m: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ru-RU" b="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ru-RU" b="1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𝑿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ru-RU" b="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∂</m:t>
                                      </m:r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b="1" i="1">
                                                  <a:latin typeface="Cambria Math" panose="02040503050406030204" pitchFamily="18" charset="0"/>
                                                </a:rPr>
                                                <m:t>𝑺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ru-RU" b="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ru-RU" b="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ru-RU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𝑿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ru-RU" b="0" i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∂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b="1" i="1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b="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351" y="3421450"/>
                <a:ext cx="7137621" cy="10381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Прямоугольник 13"/>
              <p:cNvSpPr/>
              <p:nvPr/>
            </p:nvSpPr>
            <p:spPr>
              <a:xfrm>
                <a:off x="4014008" y="4666526"/>
                <a:ext cx="3628942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b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ru-RU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b>
                                  <m: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008" y="4666526"/>
                <a:ext cx="3628942" cy="506870"/>
              </a:xfrm>
              <a:prstGeom prst="rect">
                <a:avLst/>
              </a:prstGeom>
              <a:blipFill>
                <a:blip r:embed="rId5"/>
                <a:stretch>
                  <a:fillRect r="-65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Прямоугольник 15"/>
              <p:cNvSpPr/>
              <p:nvPr/>
            </p:nvSpPr>
            <p:spPr>
              <a:xfrm>
                <a:off x="4014008" y="5380303"/>
                <a:ext cx="398224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ru-RU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b="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ru-RU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ru-RU" b="0" i="0"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sSub>
                                    <m:sSubPr>
                                      <m:ctrlPr>
                                        <a:rPr lang="ru-RU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ru-RU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ru-RU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008" y="5380303"/>
                <a:ext cx="3982244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2" y="0"/>
            <a:ext cx="10663518" cy="6565648"/>
          </a:xfrm>
        </p:spPr>
      </p:pic>
    </p:spTree>
    <p:extLst>
      <p:ext uri="{BB962C8B-B14F-4D97-AF65-F5344CB8AC3E}">
        <p14:creationId xmlns:p14="http://schemas.microsoft.com/office/powerpoint/2010/main" val="13946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27" y="365125"/>
            <a:ext cx="5629835" cy="6049972"/>
          </a:xfr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38" y="365125"/>
            <a:ext cx="5377927" cy="57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77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8259"/>
            <a:ext cx="10515600" cy="874059"/>
          </a:xfrm>
        </p:spPr>
        <p:txBody>
          <a:bodyPr/>
          <a:lstStyle/>
          <a:p>
            <a:r>
              <a:rPr lang="ru-RU" dirty="0" smtClean="0"/>
              <a:t>Параметры камеры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6518" y="1062318"/>
            <a:ext cx="11631706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Размеры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матрицы 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2.7 х 2.7 мм.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Разрешение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камеры 480 х 480 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пикселей.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Фокусное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расстояние </a:t>
            </a:r>
            <a:r>
              <a:rPr lang="en-US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= 2.8 мм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8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AutoNum type="arabicParenR"/>
            </a:pP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Частота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кадров 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выбрана 24 кадра в секунду, частота работы фильтра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равна 1/24 </a:t>
            </a:r>
            <a:r>
              <a:rPr lang="ru-RU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сек.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ru-RU" sz="28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02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СКО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Прямоугольник 8"/>
              <p:cNvSpPr/>
              <p:nvPr/>
            </p:nvSpPr>
            <p:spPr>
              <a:xfrm>
                <a:off x="838200" y="2003612"/>
                <a:ext cx="10515600" cy="15312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СКО шума точки на экране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𝑓𝑟𝑎𝑚𝑒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рассчитывается исходя из предположения, что неопределенность определения положения особой точки на кадре равна 10 пикселям. Найдем чему равен размер пикселя в метрах: т.к. матрица камеры 2.7 х 2.7мм, а разрешение камеры 480 х 480 пикселей, то размер одного пикселя равен 2.7/480 [мм] = 0.005625 мм =5.625·10</a:t>
                </a:r>
                <a:r>
                  <a:rPr lang="ru-RU" baseline="30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-6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м. Следовательно, СКО шума точки будет равно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𝑓𝑟𝑎𝑚𝑒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5.625·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  <m:r>
                      <a:rPr lang="ru-RU" baseline="30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м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03612"/>
                <a:ext cx="10515600" cy="1531253"/>
              </a:xfrm>
              <a:prstGeom prst="rect">
                <a:avLst/>
              </a:prstGeom>
              <a:blipFill>
                <a:blip r:embed="rId2"/>
                <a:stretch>
                  <a:fillRect l="-522" t="-2390" b="-15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838200" y="3700226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СКО оценки координат камеры выбирается из предположения, что координаты камеры определяются с помощью приемника спутниковой навигации с технологией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RTK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таким образом, СКО оценок координат камеры составит 0.05 метра. В алгоритме координаты считаются известной величиной, но при моделировании в оценки координат камеры добавляется БГШ с нулевым математическим ожиданием и приведенным СКО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04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110" y="502920"/>
            <a:ext cx="5363359" cy="4042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4194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171</Words>
  <Application>Microsoft Office PowerPoint</Application>
  <PresentationFormat>Широкоэкранный</PresentationFormat>
  <Paragraphs>46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Комплексирование</vt:lpstr>
      <vt:lpstr>SLAM</vt:lpstr>
      <vt:lpstr>Зачем это нужно</vt:lpstr>
      <vt:lpstr>Цель работы - создать модель в MATLAB</vt:lpstr>
      <vt:lpstr>Синтез расширенного фильтра Калмана</vt:lpstr>
      <vt:lpstr>Презентация PowerPoint</vt:lpstr>
      <vt:lpstr>Презентация PowerPoint</vt:lpstr>
      <vt:lpstr>Презентация PowerPoint</vt:lpstr>
      <vt:lpstr>Презентация PowerPoint</vt:lpstr>
      <vt:lpstr>Параметры камеры</vt:lpstr>
      <vt:lpstr>СКО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RePack by Diakov</cp:lastModifiedBy>
  <cp:revision>26</cp:revision>
  <dcterms:created xsi:type="dcterms:W3CDTF">2020-02-29T09:26:32Z</dcterms:created>
  <dcterms:modified xsi:type="dcterms:W3CDTF">2020-03-03T20:58:36Z</dcterms:modified>
</cp:coreProperties>
</file>